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8A6"/>
          </a:solidFill>
          <a:ln w="12700">
            <a:solidFill>
              <a:srgbClr val="009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27432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82296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36576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64008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27432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109728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448056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466344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484632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438912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57200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411480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28600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265176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288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4937760"/>
            <a:ext cx="41148" cy="41148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82296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Ray Muon Showers</a:t>
            </a:r>
            <a:endParaRPr lang="en-US" sz="46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3200400" cy="54864"/>
          </a:xfrm>
          <a:prstGeom prst="rect">
            <a:avLst/>
          </a:prstGeom>
          <a:solidFill>
            <a:srgbClr val="0098A6"/>
          </a:solidFill>
          <a:ln w="12700">
            <a:solidFill>
              <a:srgbClr val="009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00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Correlated Multi-Detector Coincidences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 ·  Muhlenberg College Physics  ·  March 2026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09560" y="164592"/>
            <a:ext cx="347472" cy="347472"/>
          </a:xfrm>
          <a:prstGeom prst="ellipse">
            <a:avLst/>
          </a:prstGeom>
          <a:solidFill>
            <a:srgbClr val="F4A723"/>
          </a:solidFill>
          <a:ln w="12700">
            <a:solidFill>
              <a:srgbClr val="F4A7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548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4A723"/>
                </a:solidFill>
              </a:rPr>
              <a:t>cosmic ray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083296" y="512064"/>
            <a:ext cx="-777240" cy="2194560"/>
          </a:xfrm>
          <a:prstGeom prst="line">
            <a:avLst/>
          </a:prstGeom>
          <a:noFill/>
          <a:ln w="22860">
            <a:solidFill>
              <a:srgbClr val="2E9FD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512064"/>
            <a:ext cx="-274320" cy="2194560"/>
          </a:xfrm>
          <a:prstGeom prst="line">
            <a:avLst/>
          </a:prstGeom>
          <a:noFill/>
          <a:ln w="22860">
            <a:solidFill>
              <a:srgbClr val="2E9F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512064"/>
            <a:ext cx="228600" cy="2194560"/>
          </a:xfrm>
          <a:prstGeom prst="line">
            <a:avLst/>
          </a:prstGeom>
          <a:noFill/>
          <a:ln w="22860">
            <a:solidFill>
              <a:srgbClr val="2E9F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3296" y="512064"/>
            <a:ext cx="731520" cy="2194560"/>
          </a:xfrm>
          <a:prstGeom prst="line">
            <a:avLst/>
          </a:prstGeom>
          <a:noFill/>
          <a:ln w="22860">
            <a:solidFill>
              <a:srgbClr val="2E9F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512064"/>
            <a:ext cx="1188720" cy="2194560"/>
          </a:xfrm>
          <a:prstGeom prst="line">
            <a:avLst/>
          </a:prstGeom>
          <a:noFill/>
          <a:ln w="22860">
            <a:solidFill>
              <a:srgbClr val="2E9F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06056" y="2706624"/>
            <a:ext cx="-274320" cy="1463040"/>
          </a:xfrm>
          <a:prstGeom prst="line">
            <a:avLst/>
          </a:prstGeom>
          <a:noFill/>
          <a:ln w="19050">
            <a:solidFill>
              <a:srgbClr val="00CE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08976" y="2706624"/>
            <a:ext cx="0" cy="1463040"/>
          </a:xfrm>
          <a:prstGeom prst="line">
            <a:avLst/>
          </a:prstGeom>
          <a:noFill/>
          <a:ln w="19050">
            <a:solidFill>
              <a:srgbClr val="00CE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11896" y="2706624"/>
            <a:ext cx="320040" cy="1463040"/>
          </a:xfrm>
          <a:prstGeom prst="line">
            <a:avLst/>
          </a:prstGeom>
          <a:noFill/>
          <a:ln w="19050">
            <a:solidFill>
              <a:srgbClr val="00C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4206240"/>
            <a:ext cx="256032" cy="201168"/>
          </a:xfrm>
          <a:prstGeom prst="rect">
            <a:avLst/>
          </a:prstGeom>
          <a:solidFill>
            <a:srgbClr val="0098A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60920" y="4206240"/>
            <a:ext cx="256032" cy="201168"/>
          </a:xfrm>
          <a:prstGeom prst="rect">
            <a:avLst/>
          </a:prstGeom>
          <a:solidFill>
            <a:srgbClr val="0098A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26680" y="4206240"/>
            <a:ext cx="256032" cy="201168"/>
          </a:xfrm>
          <a:prstGeom prst="rect">
            <a:avLst/>
          </a:prstGeom>
          <a:solidFill>
            <a:srgbClr val="0098A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4206240"/>
            <a:ext cx="256032" cy="201168"/>
          </a:xfrm>
          <a:prstGeom prst="rect">
            <a:avLst/>
          </a:prstGeom>
          <a:solidFill>
            <a:srgbClr val="0098A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9640" y="4206240"/>
            <a:ext cx="256032" cy="201168"/>
          </a:xfrm>
          <a:prstGeom prst="rect">
            <a:avLst/>
          </a:prstGeom>
          <a:solidFill>
            <a:srgbClr val="0098A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E8"/>
                </a:solidFill>
              </a:rPr>
              <a:t>μ  μ  μ  μ  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Cosmic Ray Air Showers?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47472" y="960120"/>
            <a:ext cx="4617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High-energy particles — protons and heavier nuclei — stream in from outer space at nearly the speed of light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hit the upper atmosphere (~15 km up), they collide with air molecules and create a cascade of secondary particles: an air shower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shower produces pions and kaons, which quickly decay into muons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Muons are highly penetrating and reach the ground in tight temporal bunches — hundreds of them, spread over a footprint up to ~100 m wide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shower can trigger multiple nearby detectors within 1–2 microseconds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502920"/>
            <a:ext cx="3566160" cy="457200"/>
          </a:xfrm>
          <a:prstGeom prst="rect">
            <a:avLst/>
          </a:prstGeom>
          <a:solidFill>
            <a:srgbClr val="CBE5F5">
              <a:alpha val="90000"/>
            </a:srgbClr>
          </a:solidFill>
          <a:ln w="12700">
            <a:solidFill>
              <a:srgbClr val="96C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548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</a:rPr>
              <a:t>Upper Atmosphere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03720" y="137160"/>
            <a:ext cx="292608" cy="292608"/>
          </a:xfrm>
          <a:prstGeom prst="ellipse">
            <a:avLst/>
          </a:prstGeom>
          <a:solidFill>
            <a:srgbClr val="F4A723"/>
          </a:solidFill>
          <a:ln w="12700">
            <a:solidFill>
              <a:srgbClr val="F4A7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723"/>
                </a:solidFill>
              </a:rPr>
              <a:t>cosmic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4A723"/>
                </a:solidFill>
              </a:rPr>
              <a:t>ray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050024" y="429768"/>
            <a:ext cx="0" cy="530352"/>
          </a:xfrm>
          <a:prstGeom prst="line">
            <a:avLst/>
          </a:prstGeom>
          <a:noFill/>
          <a:ln w="25400">
            <a:solidFill>
              <a:srgbClr val="F4A7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0024" y="960120"/>
            <a:ext cx="-868680" cy="1097280"/>
          </a:xfrm>
          <a:prstGeom prst="line">
            <a:avLst/>
          </a:prstGeom>
          <a:noFill/>
          <a:ln w="19050">
            <a:solidFill>
              <a:srgbClr val="4DAB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50024" y="960120"/>
            <a:ext cx="-384048" cy="1097280"/>
          </a:xfrm>
          <a:prstGeom prst="line">
            <a:avLst/>
          </a:prstGeom>
          <a:noFill/>
          <a:ln w="19050">
            <a:solidFill>
              <a:srgbClr val="4DAB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50024" y="960120"/>
            <a:ext cx="0" cy="1097280"/>
          </a:xfrm>
          <a:prstGeom prst="line">
            <a:avLst/>
          </a:prstGeom>
          <a:noFill/>
          <a:ln w="19050">
            <a:solidFill>
              <a:srgbClr val="4DAB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0024" y="960120"/>
            <a:ext cx="384048" cy="1097280"/>
          </a:xfrm>
          <a:prstGeom prst="line">
            <a:avLst/>
          </a:prstGeom>
          <a:noFill/>
          <a:ln w="19050">
            <a:solidFill>
              <a:srgbClr val="4DAB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0024" y="960120"/>
            <a:ext cx="822960" cy="1097280"/>
          </a:xfrm>
          <a:prstGeom prst="line">
            <a:avLst/>
          </a:prstGeom>
          <a:noFill/>
          <a:ln w="19050">
            <a:solidFill>
              <a:srgbClr val="4DAB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371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73BE"/>
                </a:solidFill>
              </a:rPr>
              <a:t>π, K 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81344" y="2057400"/>
            <a:ext cx="-283464" cy="1463040"/>
          </a:xfrm>
          <a:prstGeom prst="line">
            <a:avLst/>
          </a:prstGeom>
          <a:noFill/>
          <a:ln w="22860">
            <a:solidFill>
              <a:srgbClr val="0098A6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6665976" y="2057400"/>
            <a:ext cx="-310896" cy="1463040"/>
          </a:xfrm>
          <a:prstGeom prst="line">
            <a:avLst/>
          </a:prstGeom>
          <a:noFill/>
          <a:ln w="22860">
            <a:solidFill>
              <a:srgbClr val="0098A6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7050024" y="2057400"/>
            <a:ext cx="-283464" cy="1463040"/>
          </a:xfrm>
          <a:prstGeom prst="line">
            <a:avLst/>
          </a:prstGeom>
          <a:noFill/>
          <a:ln w="22860">
            <a:solidFill>
              <a:srgbClr val="0098A6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7434072" y="2057400"/>
            <a:ext cx="-210312" cy="1463040"/>
          </a:xfrm>
          <a:prstGeom prst="line">
            <a:avLst/>
          </a:prstGeom>
          <a:noFill/>
          <a:ln w="22860">
            <a:solidFill>
              <a:srgbClr val="0098A6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7872984" y="2057400"/>
            <a:ext cx="-146304" cy="1463040"/>
          </a:xfrm>
          <a:prstGeom prst="line">
            <a:avLst/>
          </a:prstGeom>
          <a:noFill/>
          <a:ln w="22860">
            <a:solidFill>
              <a:srgbClr val="0098A6"/>
            </a:solidFill>
            <a:prstDash val="sysDot"/>
          </a:ln>
        </p:spPr>
      </p:sp>
      <p:sp>
        <p:nvSpPr>
          <p:cNvPr id="21" name="Text 19"/>
          <p:cNvSpPr/>
          <p:nvPr/>
        </p:nvSpPr>
        <p:spPr>
          <a:xfrm>
            <a:off x="534924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8A6"/>
                </a:solidFill>
              </a:rPr>
              <a:t>muons (μ)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0" y="3703320"/>
            <a:ext cx="3566160" cy="164592"/>
          </a:xfrm>
          <a:prstGeom prst="rect">
            <a:avLst/>
          </a:prstGeom>
          <a:solidFill>
            <a:srgbClr val="8B7355"/>
          </a:solidFill>
          <a:ln w="12700">
            <a:solidFill>
              <a:srgbClr val="7A62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9864" y="3337560"/>
            <a:ext cx="256032" cy="237744"/>
          </a:xfrm>
          <a:prstGeom prst="rect">
            <a:avLst/>
          </a:prstGeom>
          <a:solidFill>
            <a:srgbClr val="0098A6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7064" y="3337560"/>
            <a:ext cx="256032" cy="237744"/>
          </a:xfrm>
          <a:prstGeom prst="rect">
            <a:avLst/>
          </a:prstGeom>
          <a:solidFill>
            <a:srgbClr val="0098A6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8544" y="3337560"/>
            <a:ext cx="256032" cy="237744"/>
          </a:xfrm>
          <a:prstGeom prst="rect">
            <a:avLst/>
          </a:prstGeom>
          <a:solidFill>
            <a:srgbClr val="0098A6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95744" y="3337560"/>
            <a:ext cx="256032" cy="237744"/>
          </a:xfrm>
          <a:prstGeom prst="rect">
            <a:avLst/>
          </a:prstGeom>
          <a:solidFill>
            <a:srgbClr val="0098A6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98664" y="3337560"/>
            <a:ext cx="256032" cy="237744"/>
          </a:xfrm>
          <a:prstGeom prst="rect">
            <a:avLst/>
          </a:prstGeom>
          <a:solidFill>
            <a:srgbClr val="0098A6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913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E"/>
                </a:solidFill>
              </a:rPr>
              <a:t>detector array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49240" y="4251960"/>
            <a:ext cx="3474720" cy="548640"/>
          </a:xfrm>
          <a:prstGeom prst="rect">
            <a:avLst/>
          </a:prstGeom>
          <a:solidFill>
            <a:srgbClr val="E8F5FF"/>
          </a:solidFill>
          <a:ln w="12700">
            <a:solidFill>
              <a:srgbClr val="96C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431596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3BE"/>
                </a:solidFill>
              </a:rPr>
              <a:t>All muons arrive within ~1–2 µs of each other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98A6"/>
          </a:solidFill>
          <a:ln w="12700">
            <a:solidFill>
              <a:srgbClr val="009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Experimental Setup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51560"/>
            <a:ext cx="2743200" cy="91440"/>
          </a:xfrm>
          <a:prstGeom prst="rect">
            <a:avLst/>
          </a:prstGeom>
          <a:solidFill>
            <a:srgbClr val="0098A6"/>
          </a:solidFill>
          <a:ln w="12700">
            <a:solidFill>
              <a:srgbClr val="009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252728"/>
            <a:ext cx="914400" cy="9144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09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12527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8A6"/>
                </a:solidFill>
              </a:rPr>
              <a:t>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Panels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2743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scintillator panels, each read out by a dedicated Arduino Nano with its own independent crystal oscillator clock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2743200" cy="91440"/>
          </a:xfrm>
          <a:prstGeom prst="rect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252728"/>
            <a:ext cx="914400" cy="9144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2527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73BE"/>
                </a:solidFill>
              </a:rPr>
              <a:t>10 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Pulses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743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Arduino Uno broadcasts a sync pulse to all 8 Nanos every 10 seconds — used to correct for clock drift between detectors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6208" y="105156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051560"/>
            <a:ext cx="2743200" cy="91440"/>
          </a:xfrm>
          <a:prstGeom prst="rect">
            <a:avLst/>
          </a:prstGeom>
          <a:solidFill>
            <a:srgbClr val="F4A723"/>
          </a:solidFill>
          <a:ln w="12700">
            <a:solidFill>
              <a:srgbClr val="F4A7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0608" y="1252728"/>
            <a:ext cx="914400" cy="9144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F4A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12527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723"/>
                </a:solidFill>
              </a:rPr>
              <a:t>~1 Hz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73368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3368" y="2743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registers ~0.8–1.25 cosmic-ray hits per second — consistent with expected single-muon background flux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4297680"/>
            <a:ext cx="8449056" cy="640080"/>
          </a:xfrm>
          <a:prstGeom prst="rect">
            <a:avLst/>
          </a:prstGeom>
          <a:solidFill>
            <a:srgbClr val="E4EEF8"/>
          </a:solidFill>
          <a:ln w="12700">
            <a:solidFill>
              <a:srgbClr val="C0D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70832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5"/>
                </a:solidFill>
              </a:rPr>
              <a:t>Run 1 (Feb 27, 2026)</a:t>
            </a:r>
            <a:pPr algn="ctr" indent="0" marL="0">
              <a:buNone/>
            </a:pPr>
            <a:r>
              <a:rPr lang="en-US" sz="1100" dirty="0">
                <a:solidFill>
                  <a:srgbClr val="243B55"/>
                </a:solidFill>
              </a:rPr>
              <a:t>  ·  60 min  ·  28,935 total hits  ·  357 sync events per Nano  ·  True timing floor: ~75 µs (spike-excluded)  ·  ~1.26 ms spike-inclusive (~1.4% of intervals affected)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 Hypothesis We Are Testing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3977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05840"/>
            <a:ext cx="3977640" cy="9144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A7E"/>
                </a:solidFill>
              </a:rPr>
              <a:t>H₀  —  Null Hypothesis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5"/>
                </a:solidFill>
              </a:rPr>
              <a:t>Each detector fires as an independent, stationary Poisson process. Multi-detector coincidences arise only by chance — random overlap of unrelated single-particle events.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05840"/>
            <a:ext cx="4206240" cy="91440"/>
          </a:xfrm>
          <a:prstGeom prst="rect">
            <a:avLst/>
          </a:prstGeom>
          <a:solidFill>
            <a:srgbClr val="0098A6"/>
          </a:solidFill>
          <a:ln w="12700">
            <a:solidFill>
              <a:srgbClr val="009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155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8A6"/>
                </a:solidFill>
              </a:rPr>
              <a:t>H₁  —  Signal Hypothesis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153619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5"/>
                </a:solidFill>
              </a:rPr>
              <a:t>Cosmic ray air showers deposit bursts of muons across multiple detectors nearly simultaneously, creating correlated coincidences in genuine excess of the accidental rate.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" y="3017520"/>
            <a:ext cx="8449056" cy="1325880"/>
          </a:xfrm>
          <a:prstGeom prst="rect">
            <a:avLst/>
          </a:prstGeom>
          <a:solidFill>
            <a:srgbClr val="EBF5FB"/>
          </a:solidFill>
          <a:ln w="12700">
            <a:solidFill>
              <a:srgbClr val="A8D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08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73BE"/>
                </a:solidFill>
              </a:rPr>
              <a:t>If detectors are independent: expected k-fold accidentals in time T with window ±τ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4564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E_k  =  T_eff  ×  (2τ)^(k−1)  ×  Σ [ r₁ × r₂ × ··· × rₖ 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7472" y="4480560"/>
            <a:ext cx="8449056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A8D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54456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At τ = 0.5 ms, r ≈ 1 Hz, T = 60 min:   E₂ ≈ 202  ·  E₃ ≈ 0.8  ·  E₄ ≈ 0.003  ·  E₅ &lt; 0.001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98A6"/>
          </a:solidFill>
          <a:ln w="12700">
            <a:solidFill>
              <a:srgbClr val="009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Drift &amp; Calibration</a:t>
            </a:r>
            <a:endParaRPr lang="en-US" sz="3200" dirty="0"/>
          </a:p>
        </p:txBody>
      </p:sp>
      <p:pic>
        <p:nvPicPr>
          <p:cNvPr id="4" name="Image 0" descr="/sessions/eager-wizardly-cori/mnt/zachary_muon_clusters_01/plot_02_clock_offse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34840" y="822960"/>
            <a:ext cx="448056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960120"/>
            <a:ext cx="3931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8 Nanos has its own crystal oscillator — clocks drift independently at rates up to −1,264 ppm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sync pulse arrives at all Nanos simultaneously; each records its own local timestamp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piecewise-linear correction mapping each Nano's clock to a common reference frame (Nano 1)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calibration RMS: ~1.26 ms across all intervals — but ~1.4% of intervals contain spike artifacts from firmware interrupt deferral, which dominate this figure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4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spike intervals, the true timing floor is ~75 µs combined — making the 1 ms coincidence window well-justified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Per-Detector Rates: Validating the Poisson Model</a:t>
            </a:r>
            <a:endParaRPr lang="en-US" sz="2800" dirty="0"/>
          </a:p>
        </p:txBody>
      </p:sp>
      <p:pic>
        <p:nvPicPr>
          <p:cNvPr id="4" name="Image 0" descr="/sessions/eager-wizardly-cori/mnt/zachary_muon_clusters_01/plot_01_detector_r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896112"/>
            <a:ext cx="8449056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4663440"/>
            <a:ext cx="8449056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C0D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4700016"/>
            <a:ext cx="8193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E"/>
                </a:solidFill>
              </a:rPr>
              <a:t>Left: All 8 detectors fire at 0.8–1.25 Hz — consistent with the ambient cosmic-ray background flux.  Right: Rates are stable over the full 60-minute run, confirming the stationary Poisson assumption.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Result: Excess Coincidences Above Prediction</a:t>
            </a:r>
            <a:endParaRPr lang="en-US" sz="2800" dirty="0"/>
          </a:p>
        </p:txBody>
      </p:sp>
      <p:pic>
        <p:nvPicPr>
          <p:cNvPr id="4" name="Image 0" descr="/sessions/eager-wizardly-cori/mnt/zachary_muon_clusters_01/plot_04_obs_vs_exp_and_signific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896112"/>
            <a:ext cx="59436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96012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960120"/>
            <a:ext cx="128016" cy="1143000"/>
          </a:xfrm>
          <a:prstGeom prst="rect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29400" y="10332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2-fold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29400" y="130759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5"/>
                </a:solidFill>
              </a:rPr>
              <a:t>Obs: 274  ·  Exp: 202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29400" y="160020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73BE"/>
                </a:solidFill>
              </a:rPr>
              <a:t>+4.8σ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46520" y="2258568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258568"/>
            <a:ext cx="128016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23317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3-fold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29400" y="26060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5"/>
                </a:solidFill>
              </a:rPr>
              <a:t>Obs: 7  ·  Exp: 0.8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29400" y="289864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+4.1σ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46520" y="3557016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3557016"/>
            <a:ext cx="128016" cy="11430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363016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5-fold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29400" y="39044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5"/>
                </a:solidFill>
              </a:rPr>
              <a:t>Obs: 1  ·  Exp: &lt;0.001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29400" y="419709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4855"/>
                </a:solidFill>
              </a:rPr>
              <a:t>+4.5σ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347472" y="4663440"/>
            <a:ext cx="8449056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C0D4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4700016"/>
            <a:ext cx="8193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E"/>
                </a:solidFill>
              </a:rPr>
              <a:t>Left: Points above the diagonal = more coincidences than expected by chance.  Right: Significance peaks sharply at narrow windows — consistent with sub-millisecond correlated events.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98A6"/>
          </a:solidFill>
          <a:ln w="12700">
            <a:solidFill>
              <a:srgbClr val="009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Test: Signal Is Not an Analysis Artifact</a:t>
            </a:r>
            <a:endParaRPr lang="en-US" sz="2800" dirty="0"/>
          </a:p>
        </p:txBody>
      </p:sp>
      <p:pic>
        <p:nvPicPr>
          <p:cNvPr id="4" name="Image 0" descr="/sessions/eager-wizardly-cori/mnt/zachary_muon_clusters_01/diag_F_null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896112"/>
            <a:ext cx="8449056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4663440"/>
            <a:ext cx="8449056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C0D4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4700016"/>
            <a:ext cx="8193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E"/>
                </a:solidFill>
              </a:rPr>
              <a:t>Method: randomly time-shift each Nano's event stream 200 times and re-run the analysis. Gray histograms: shuffled data (accidentals only). Red line: real observation. Blue dashed: Poisson prediction.   Real 2-fold (274) and 3-fold (7) counts lie far outside the null distribution — p &lt; 0.001.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Evidence: Excess of Near-Simultaneous Hits</a:t>
            </a:r>
            <a:endParaRPr lang="en-US" sz="2800" dirty="0"/>
          </a:p>
        </p:txBody>
      </p:sp>
      <p:pic>
        <p:nvPicPr>
          <p:cNvPr id="4" name="Image 0" descr="/sessions/eager-wizardly-cori/mnt/zachary_muon_clusters_01/diag_E_dt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896112"/>
            <a:ext cx="594360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46520" y="960120"/>
            <a:ext cx="2468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960120"/>
            <a:ext cx="2468880" cy="91440"/>
          </a:xfrm>
          <a:prstGeom prst="rect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10789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this shows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37960" y="14630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3B55"/>
                </a:solidFill>
              </a:rPr>
              <a:t>Time differences Δt between all detector pairs within a 1 ms window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3B55"/>
                </a:solidFill>
              </a:rPr>
              <a:t>If hits were independent, Δt would be flat (uniform random)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3B55"/>
                </a:solidFill>
              </a:rPr>
              <a:t>Instead: a sharp spike near Δt ≈ 0 — hits arriving nearly simultaneously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3B55"/>
                </a:solidFill>
              </a:rPr>
              <a:t>~70 excess pairs at Δt &lt; 0.1 ms vs. only ~0.6 expected by chance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3B55"/>
                </a:solidFill>
              </a:rPr>
              <a:t>This is direct evidence that multiple detectors are responding to the same physical event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" y="4663440"/>
            <a:ext cx="8449056" cy="384048"/>
          </a:xfrm>
          <a:prstGeom prst="rect">
            <a:avLst/>
          </a:prstGeom>
          <a:solidFill>
            <a:srgbClr val="E8F0F8"/>
          </a:solidFill>
          <a:ln w="12700">
            <a:solidFill>
              <a:srgbClr val="C0D4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4700016"/>
            <a:ext cx="8193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7E"/>
                </a:solidFill>
              </a:rPr>
              <a:t>Left: full 1 ms range.  Right: zoomed to 0.1 ms — the pile-up near zero is the fingerprint of correlated shower particles.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4A723"/>
          </a:solidFill>
          <a:ln w="12700">
            <a:solidFill>
              <a:srgbClr val="F4A7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Shower Candidates: Timing Ladder Diagrams</a:t>
            </a:r>
            <a:endParaRPr lang="en-US" sz="3000" dirty="0"/>
          </a:p>
        </p:txBody>
      </p:sp>
      <p:pic>
        <p:nvPicPr>
          <p:cNvPr id="4" name="Image 0" descr="/sessions/eager-wizardly-cori/mnt/zachary_muon_clusters_01/plot_06_shower_candida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896112"/>
            <a:ext cx="566928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914400"/>
            <a:ext cx="2697480" cy="1554480"/>
          </a:xfrm>
          <a:prstGeom prst="rect">
            <a:avLst/>
          </a:prstGeom>
          <a:solidFill>
            <a:srgbClr val="FFF8E8"/>
          </a:solidFill>
          <a:ln w="12700">
            <a:solidFill>
              <a:srgbClr val="F4A7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72200" y="914400"/>
            <a:ext cx="2697480" cy="91440"/>
          </a:xfrm>
          <a:prstGeom prst="rect">
            <a:avLst/>
          </a:prstGeom>
          <a:solidFill>
            <a:srgbClr val="F4A723"/>
          </a:solidFill>
          <a:ln w="12700">
            <a:solidFill>
              <a:srgbClr val="F4A7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91072" y="10424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914"/>
                </a:solidFill>
              </a:rPr>
              <a:t>Best Candidate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91072" y="1371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5"/>
                </a:solidFill>
              </a:rPr>
              <a:t>5-fold  ·  t = 49.97 min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3B55"/>
                </a:solidFill>
              </a:rPr>
              <a:t>Nanos 1, 3, 5, 6, 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3B55"/>
                </a:solidFill>
              </a:rPr>
              <a:t>Span: 3.6 µs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2606040"/>
            <a:ext cx="2697480" cy="1051560"/>
          </a:xfrm>
          <a:prstGeom prst="rect">
            <a:avLst/>
          </a:prstGeom>
          <a:solidFill>
            <a:srgbClr val="E8F8F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2606040"/>
            <a:ext cx="269748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91072" y="27249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Expected accidents: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91072" y="29992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D6A0"/>
                </a:solidFill>
              </a:rPr>
              <a:t>&lt; 0.001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172200" y="3767328"/>
            <a:ext cx="2697480" cy="914400"/>
          </a:xfrm>
          <a:prstGeom prst="rect">
            <a:avLst/>
          </a:prstGeom>
          <a:solidFill>
            <a:srgbClr val="EDF3FF"/>
          </a:solidFill>
          <a:ln w="12700">
            <a:solidFill>
              <a:srgbClr val="1E73B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3767328"/>
            <a:ext cx="2697480" cy="91440"/>
          </a:xfrm>
          <a:prstGeom prst="rect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91072" y="38953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E"/>
                </a:solidFill>
              </a:rPr>
              <a:t>Significance: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91072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73BE"/>
                </a:solidFill>
              </a:rPr>
              <a:t>~4.5σ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8A6"/>
          </a:solidFill>
          <a:ln w="12700">
            <a:solidFill>
              <a:srgbClr val="009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 &amp; 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75488" y="960120"/>
            <a:ext cx="3931920" cy="3246120"/>
          </a:xfrm>
          <a:prstGeom prst="rect">
            <a:avLst/>
          </a:prstGeom>
          <a:solidFill>
            <a:srgbClr val="152B45"/>
          </a:solidFill>
          <a:ln w="12700">
            <a:solidFill>
              <a:srgbClr val="284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8A6"/>
                </a:solidFill>
              </a:rPr>
              <a:t>Current Evidence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3703320" cy="0"/>
          </a:xfrm>
          <a:prstGeom prst="line">
            <a:avLst/>
          </a:prstGeom>
          <a:noFill/>
          <a:ln w="12700">
            <a:solidFill>
              <a:srgbClr val="28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3703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2-fold: 274 observed vs. 202 expected (+4.8σ)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3-fold: 7 observed vs. 0.8 expected (+4.1σ)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5-fold: 1 observed vs. &lt;0.001 expected (+4.5σ)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Null test (200 shuffles) confirms real signal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5-detector event spans only 3.6 microseconds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0016" y="960120"/>
            <a:ext cx="4096512" cy="3246120"/>
          </a:xfrm>
          <a:prstGeom prst="rect">
            <a:avLst/>
          </a:prstGeom>
          <a:solidFill>
            <a:srgbClr val="152B45"/>
          </a:solidFill>
          <a:ln w="12700">
            <a:solidFill>
              <a:srgbClr val="28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078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723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8888" y="1508760"/>
            <a:ext cx="3840480" cy="0"/>
          </a:xfrm>
          <a:prstGeom prst="line">
            <a:avLst/>
          </a:prstGeom>
          <a:noFill/>
          <a:ln w="12700">
            <a:solidFill>
              <a:srgbClr val="28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627632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Analyze Run 2 (Mar 14, ~2 hr) with 1-second sync for higher timing precision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Combine datasets to push toward 5σ discovery threshold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Apply jump-veto version to rule out hardware timing anomalies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Develop time-of-flight analysis to reconstruct shower geometry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Explore Δt structure to characterize shower front geometry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4343400"/>
            <a:ext cx="8321040" cy="548640"/>
          </a:xfrm>
          <a:prstGeom prst="rect">
            <a:avLst/>
          </a:prstGeom>
          <a:solidFill>
            <a:srgbClr val="0A22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416552"/>
            <a:ext cx="8083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A8C8"/>
                </a:solidFill>
              </a:rPr>
              <a:t>Current status: ~4σ evidence — strong and internally consistent, but not yet at the 5σ discovery threshold.  Run 2 data should resolve this.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for Cosmic Ray Muon Showers</dc:title>
  <dc:subject>PptxGenJS Presentation</dc:subject>
  <dc:creator>Zachary</dc:creator>
  <cp:lastModifiedBy>Zachary</cp:lastModifiedBy>
  <cp:revision>1</cp:revision>
  <dcterms:created xsi:type="dcterms:W3CDTF">2026-03-15T04:20:38Z</dcterms:created>
  <dcterms:modified xsi:type="dcterms:W3CDTF">2026-03-15T04:20:38Z</dcterms:modified>
</cp:coreProperties>
</file>